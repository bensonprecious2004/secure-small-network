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71" r:id="rId5"/>
    <p:sldId id="260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61" r:id="rId14"/>
    <p:sldId id="262" r:id="rId15"/>
    <p:sldId id="263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jZpbnDLI3BG88rSrcjDG39Fl4b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099" autoAdjust="0"/>
  </p:normalViewPr>
  <p:slideViewPr>
    <p:cSldViewPr snapToGrid="0">
      <p:cViewPr varScale="1">
        <p:scale>
          <a:sx n="64" d="100"/>
          <a:sy n="64" d="100"/>
        </p:scale>
        <p:origin x="7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925832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12167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70443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80876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55204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078967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878311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9" name="Google Shape;1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297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help.ubuntu.com/community/UFW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kali.org/docs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oogle.com/search?q=https://doi.org/10.1109/PROC.1975.9939" TargetMode="External"/><Relationship Id="rId5" Type="http://schemas.openxmlformats.org/officeDocument/2006/relationships/hyperlink" Target="https://csrc.nist.gov/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www.google.com/search?q=https://www.wireshark.org/docs/wsug_html_chunked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-319166" y="857895"/>
            <a:ext cx="12192000" cy="519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4572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TECHCRUSH CAPSTONE PROJECT </a:t>
            </a:r>
            <a:endParaRPr lang="en-US" sz="1400" b="0" i="0" u="none" strike="noStrike" cap="none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457200" algn="ctr" rtl="0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TOPIC:</a:t>
            </a:r>
          </a:p>
          <a:p>
            <a:pPr marL="457200" indent="457200" algn="ctr">
              <a:lnSpc>
                <a:spcPct val="114000"/>
              </a:lnSpc>
              <a:spcBef>
                <a:spcPts val="800"/>
              </a:spcBef>
              <a:buSzPts val="4800"/>
            </a:pPr>
            <a:r>
              <a:rPr lang="en-US" sz="2800" b="1" dirty="0" smtClean="0"/>
              <a:t>BUILDING A SECURE SMALL NETWORK</a:t>
            </a:r>
          </a:p>
          <a:p>
            <a:pPr marL="457200" marR="0" lvl="0" indent="457200" algn="ctr" rtl="0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2000" b="1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 TASK</a:t>
            </a:r>
            <a:r>
              <a:rPr lang="en-US" sz="14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457200" indent="457200" algn="ctr">
              <a:lnSpc>
                <a:spcPct val="114000"/>
              </a:lnSpc>
              <a:spcBef>
                <a:spcPts val="800"/>
              </a:spcBef>
              <a:buSzPts val="3200"/>
            </a:pPr>
            <a:r>
              <a:rPr lang="en-US" sz="1600" dirty="0" smtClean="0"/>
              <a:t>Practically </a:t>
            </a:r>
            <a:r>
              <a:rPr lang="en-US" sz="1600" dirty="0"/>
              <a:t>demonstrate how to design and secure a small network by creating a network layout, applying basic </a:t>
            </a:r>
            <a:r>
              <a:rPr lang="en-US" sz="1600" dirty="0" err="1"/>
              <a:t>cybersecurity</a:t>
            </a:r>
            <a:r>
              <a:rPr lang="en-US" sz="1600" dirty="0"/>
              <a:t> controls such as firewalls, port protection, and access control, analyzing network traffic with tools like Wireshark and </a:t>
            </a:r>
            <a:r>
              <a:rPr lang="en-US" sz="1600" dirty="0" err="1"/>
              <a:t>Nmap</a:t>
            </a:r>
            <a:r>
              <a:rPr lang="en-US" sz="1600" dirty="0"/>
              <a:t>, and showing how the network can detect or prevent simple cyber threats while documenting the process with explanations and screenshots.</a:t>
            </a:r>
          </a:p>
          <a:p>
            <a:pPr marL="457200" marR="0" lvl="0" indent="457200" algn="ctr" rtl="0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457200" algn="ctr" rtl="0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	         </a:t>
            </a:r>
            <a:endParaRPr sz="2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11" name="Google Shape;111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138513" y="1232642"/>
            <a:ext cx="11748053" cy="5977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Outline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Aim and Objective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Methodology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4572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Concept of project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4572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Tools Used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540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</a:t>
            </a:r>
            <a:r>
              <a:rPr lang="en-US" sz="18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techcrush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shouldn’t be shared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440433" y="2807792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 txBox="1"/>
          <p:nvPr/>
        </p:nvSpPr>
        <p:spPr>
          <a:xfrm>
            <a:off x="-660400" y="836842"/>
            <a:ext cx="5054766" cy="1044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Aim and Objective 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0433" y="1182927"/>
            <a:ext cx="1064780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800" dirty="0"/>
          </a:p>
          <a:p>
            <a:r>
              <a:rPr lang="en-US" sz="1800" b="1" dirty="0"/>
              <a:t>Aim of the Project</a:t>
            </a:r>
          </a:p>
          <a:p>
            <a:r>
              <a:rPr lang="en-US" sz="1800" dirty="0"/>
              <a:t>To design and implement a secure small network that demonstrates how basic </a:t>
            </a:r>
            <a:r>
              <a:rPr lang="en-US" sz="1800" dirty="0" err="1"/>
              <a:t>cybersecurity</a:t>
            </a:r>
            <a:r>
              <a:rPr lang="en-US" sz="1800" dirty="0"/>
              <a:t> measures can protect devices, data, and communication from common network threats.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5971" y="2459692"/>
            <a:ext cx="10003858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Objectives of the Project</a:t>
            </a:r>
          </a:p>
          <a:p>
            <a:pPr>
              <a:buFont typeface="+mj-lt"/>
              <a:buAutoNum type="arabicPeriod"/>
            </a:pPr>
            <a:r>
              <a:rPr lang="en-US" sz="1600" dirty="0" smtClean="0"/>
              <a:t>To </a:t>
            </a:r>
            <a:r>
              <a:rPr lang="en-US" sz="1600" dirty="0"/>
              <a:t>create a basic network layout consisting of devices such as a router, workstation, server, and </a:t>
            </a:r>
            <a:r>
              <a:rPr lang="en-US" sz="1600" dirty="0" err="1"/>
              <a:t>IoT</a:t>
            </a:r>
            <a:r>
              <a:rPr lang="en-US" sz="1600" dirty="0"/>
              <a:t> device. </a:t>
            </a:r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/>
              <a:t>2. To </a:t>
            </a:r>
            <a:r>
              <a:rPr lang="en-US" sz="1600" dirty="0"/>
              <a:t>apply network security controls such as firewalls, password protection, port hardening, and network segmentation</a:t>
            </a:r>
            <a:r>
              <a:rPr lang="en-US" sz="1600" dirty="0" smtClean="0"/>
              <a:t>.</a:t>
            </a:r>
          </a:p>
          <a:p>
            <a:endParaRPr lang="en-US" sz="1600" dirty="0" smtClean="0"/>
          </a:p>
          <a:p>
            <a:r>
              <a:rPr lang="en-US" sz="1600" dirty="0" smtClean="0"/>
              <a:t>3. To </a:t>
            </a:r>
            <a:r>
              <a:rPr lang="en-US" sz="1600" dirty="0"/>
              <a:t>use </a:t>
            </a:r>
            <a:r>
              <a:rPr lang="en-US" sz="1600" dirty="0" err="1"/>
              <a:t>Nmap</a:t>
            </a:r>
            <a:r>
              <a:rPr lang="en-US" sz="1600" dirty="0"/>
              <a:t> to scan and identify open ports and improve network security by closing unnecessary ports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dirty="0" smtClean="0"/>
              <a:t>4. To </a:t>
            </a:r>
            <a:r>
              <a:rPr lang="en-US" sz="1600" dirty="0"/>
              <a:t>use Wireshark to capture and analyze network traffic such as HTTP, DNS, or ping packets</a:t>
            </a:r>
            <a:r>
              <a:rPr lang="en-US" sz="1600" dirty="0" smtClean="0"/>
              <a:t>.</a:t>
            </a:r>
          </a:p>
          <a:p>
            <a:endParaRPr lang="en-US" sz="1600" dirty="0" smtClean="0"/>
          </a:p>
          <a:p>
            <a:r>
              <a:rPr lang="en-US" sz="1600" dirty="0" smtClean="0"/>
              <a:t>5. To </a:t>
            </a:r>
            <a:r>
              <a:rPr lang="en-US" sz="1600" dirty="0"/>
              <a:t>develop practical knowledge and confidence in basic networking and </a:t>
            </a:r>
            <a:r>
              <a:rPr lang="en-US" sz="1600" dirty="0" err="1"/>
              <a:t>cybersecurity</a:t>
            </a:r>
            <a:r>
              <a:rPr lang="en-US" sz="1600" dirty="0"/>
              <a:t> </a:t>
            </a:r>
            <a:r>
              <a:rPr lang="en-US" sz="1600" dirty="0" smtClean="0"/>
              <a:t>concepts</a:t>
            </a:r>
          </a:p>
          <a:p>
            <a:endParaRPr lang="en-US" sz="1600" dirty="0" smtClean="0"/>
          </a:p>
          <a:p>
            <a:r>
              <a:rPr lang="en-US" sz="1600" dirty="0" smtClean="0"/>
              <a:t>6. To </a:t>
            </a:r>
            <a:r>
              <a:rPr lang="en-US" sz="1600" dirty="0"/>
              <a:t>document the setup process, configurations, screenshots, and results in a clear report and </a:t>
            </a:r>
            <a:r>
              <a:rPr lang="en-US" sz="1600" dirty="0" smtClean="0"/>
              <a:t>presentation</a:t>
            </a:r>
          </a:p>
          <a:p>
            <a:endParaRPr lang="en-US" sz="1600" dirty="0" smtClean="0"/>
          </a:p>
          <a:p>
            <a:pPr>
              <a:buFont typeface="+mj-lt"/>
              <a:buAutoNum type="arabicPeriod"/>
            </a:pPr>
            <a:endParaRPr lang="en-US" sz="1600" dirty="0" smtClean="0"/>
          </a:p>
          <a:p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7;p4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19;p4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99;p2"/>
          <p:cNvPicPr preferRelativeResize="0"/>
          <p:nvPr/>
        </p:nvPicPr>
        <p:blipFill rotWithShape="1">
          <a:blip r:embed="rId2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sp>
        <p:nvSpPr>
          <p:cNvPr id="8" name="Google Shape;134;p5"/>
          <p:cNvSpPr txBox="1"/>
          <p:nvPr/>
        </p:nvSpPr>
        <p:spPr>
          <a:xfrm>
            <a:off x="234534" y="956537"/>
            <a:ext cx="11748053" cy="517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400" b="1" i="0" u="none" strike="noStrike" cap="none" dirty="0" smtClean="0">
                <a:solidFill>
                  <a:schemeClr val="dk1"/>
                </a:solidFill>
                <a:sym typeface="Arial"/>
              </a:rPr>
              <a:t>Methodology (Concept of </a:t>
            </a:r>
            <a:r>
              <a:rPr lang="en-US" sz="2400" b="1" dirty="0" smtClean="0">
                <a:solidFill>
                  <a:schemeClr val="dk1"/>
                </a:solidFill>
              </a:rPr>
              <a:t>Project</a:t>
            </a:r>
            <a:r>
              <a:rPr lang="en-US" sz="2400" b="1" i="0" u="none" strike="noStrike" cap="none" dirty="0" smtClean="0">
                <a:solidFill>
                  <a:schemeClr val="dk1"/>
                </a:solidFill>
                <a:sym typeface="Arial"/>
              </a:rPr>
              <a:t>) </a:t>
            </a:r>
            <a:endParaRPr sz="2400" b="0" i="0" u="none" strike="noStrike" cap="none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4534" y="1881395"/>
            <a:ext cx="1162284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1800" dirty="0" smtClean="0"/>
              <a:t>Phase </a:t>
            </a:r>
            <a:r>
              <a:rPr lang="en-US" sz="1800" dirty="0"/>
              <a:t>One: Architectural Design &amp; </a:t>
            </a:r>
            <a:r>
              <a:rPr lang="en-US" sz="1800" dirty="0" smtClean="0"/>
              <a:t>Planning</a:t>
            </a:r>
          </a:p>
          <a:p>
            <a:r>
              <a:rPr lang="en-GB" sz="1800" b="1" dirty="0" smtClean="0"/>
              <a:t>     </a:t>
            </a:r>
            <a:endParaRPr lang="en-GB" sz="1800" dirty="0" smtClean="0"/>
          </a:p>
          <a:p>
            <a:r>
              <a:rPr lang="en-US" sz="1800" dirty="0" smtClean="0"/>
              <a:t>2</a:t>
            </a:r>
            <a:r>
              <a:rPr lang="en-US" sz="1800" dirty="0"/>
              <a:t>. Phase Two: Environment Deployment &amp; Baseline </a:t>
            </a:r>
            <a:r>
              <a:rPr lang="en-US" sz="1800" dirty="0" smtClean="0"/>
              <a:t>Assessment</a:t>
            </a:r>
          </a:p>
          <a:p>
            <a:r>
              <a:rPr lang="en-GB" sz="1800" b="1" dirty="0" smtClean="0"/>
              <a:t>    </a:t>
            </a:r>
            <a:endParaRPr lang="en-GB" sz="1800" dirty="0" smtClean="0"/>
          </a:p>
          <a:p>
            <a:r>
              <a:rPr lang="en-US" sz="1800" dirty="0" smtClean="0"/>
              <a:t>3</a:t>
            </a:r>
            <a:r>
              <a:rPr lang="en-US" sz="1800" dirty="0"/>
              <a:t>. Phase Three: Security Control </a:t>
            </a:r>
            <a:r>
              <a:rPr lang="en-US" sz="1800" dirty="0" smtClean="0"/>
              <a:t>Implementation</a:t>
            </a:r>
          </a:p>
          <a:p>
            <a:r>
              <a:rPr lang="en-US" sz="1800" dirty="0"/>
              <a:t> </a:t>
            </a:r>
            <a:r>
              <a:rPr lang="en-US" sz="1800" dirty="0" smtClean="0"/>
              <a:t>   </a:t>
            </a:r>
            <a:endParaRPr lang="en-US" sz="1800" dirty="0"/>
          </a:p>
          <a:p>
            <a:r>
              <a:rPr lang="en-US" sz="1800" dirty="0" smtClean="0"/>
              <a:t>4</a:t>
            </a:r>
            <a:r>
              <a:rPr lang="en-US" sz="1800" dirty="0"/>
              <a:t>. Phase Four: Threat Simulation &amp; Verification (Testing</a:t>
            </a:r>
            <a:r>
              <a:rPr lang="en-US" sz="1800" dirty="0" smtClean="0"/>
              <a:t>)</a:t>
            </a:r>
          </a:p>
          <a:p>
            <a:r>
              <a:rPr lang="en-US" sz="1800" dirty="0"/>
              <a:t> </a:t>
            </a:r>
            <a:r>
              <a:rPr lang="en-US" sz="1800" dirty="0" smtClean="0"/>
              <a:t>   </a:t>
            </a:r>
            <a:endParaRPr lang="en-US" sz="1800" dirty="0"/>
          </a:p>
          <a:p>
            <a:r>
              <a:rPr lang="en-US" sz="1800" dirty="0" smtClean="0"/>
              <a:t>5. Phase Five: </a:t>
            </a:r>
            <a:r>
              <a:rPr lang="en-GB" sz="1800" dirty="0" smtClean="0"/>
              <a:t>Documentation </a:t>
            </a:r>
            <a:r>
              <a:rPr lang="en-GB" sz="1800" dirty="0"/>
              <a:t>&amp; Review</a:t>
            </a:r>
            <a:endParaRPr lang="en-US" sz="1800" dirty="0"/>
          </a:p>
          <a:p>
            <a:pPr marL="342900" indent="-342900">
              <a:buAutoNum type="arabicPeriod"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110076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5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792540"/>
            <a:ext cx="10541991" cy="2964201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33" name="Google Shape;13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 txBox="1"/>
          <p:nvPr/>
        </p:nvSpPr>
        <p:spPr>
          <a:xfrm>
            <a:off x="234534" y="921716"/>
            <a:ext cx="11748053" cy="517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400" b="1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Methodology (Tools Used) 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4534" y="1881395"/>
            <a:ext cx="1162284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800" dirty="0" smtClean="0"/>
              <a:t>1. Cisco packer tracer (Network Diagram and diagramming tool): it was used to create the network topology diagram</a:t>
            </a:r>
          </a:p>
          <a:p>
            <a:endParaRPr lang="en-GB" sz="1800" dirty="0" smtClean="0"/>
          </a:p>
          <a:p>
            <a:r>
              <a:rPr lang="en-US" sz="1800" dirty="0" smtClean="0"/>
              <a:t>2</a:t>
            </a:r>
            <a:r>
              <a:rPr lang="en-US" sz="1800" dirty="0"/>
              <a:t>. </a:t>
            </a:r>
            <a:r>
              <a:rPr lang="en-GB" sz="1800" dirty="0" err="1" smtClean="0"/>
              <a:t>Vmware</a:t>
            </a:r>
            <a:r>
              <a:rPr lang="en-GB" sz="1800" dirty="0" smtClean="0"/>
              <a:t>, Kali Linux: This is the primary environment for all terminal commands, tools execution and screenshots evidence</a:t>
            </a:r>
          </a:p>
          <a:p>
            <a:endParaRPr lang="en-GB" sz="1800" dirty="0" smtClean="0"/>
          </a:p>
          <a:p>
            <a:r>
              <a:rPr lang="en-US" sz="1800" dirty="0" smtClean="0"/>
              <a:t>3</a:t>
            </a:r>
            <a:r>
              <a:rPr lang="en-US" sz="1800" dirty="0"/>
              <a:t>. </a:t>
            </a:r>
            <a:r>
              <a:rPr lang="en-GB" sz="1800" dirty="0" smtClean="0"/>
              <a:t>Native </a:t>
            </a:r>
            <a:r>
              <a:rPr lang="en-GB" sz="1800" dirty="0"/>
              <a:t>Firewall </a:t>
            </a:r>
            <a:r>
              <a:rPr lang="en-GB" sz="1800" dirty="0" smtClean="0"/>
              <a:t>Implementation(</a:t>
            </a:r>
            <a:r>
              <a:rPr lang="en-GB" sz="1800" dirty="0" err="1" smtClean="0"/>
              <a:t>Iptables</a:t>
            </a:r>
            <a:r>
              <a:rPr lang="en-GB" sz="1800" dirty="0" smtClean="0"/>
              <a:t>): used to block incoming traffic in the </a:t>
            </a:r>
            <a:r>
              <a:rPr lang="en-GB" sz="1800" dirty="0" err="1" smtClean="0"/>
              <a:t>linux</a:t>
            </a:r>
            <a:r>
              <a:rPr lang="en-GB" sz="1800" dirty="0" smtClean="0"/>
              <a:t> against the custom security rules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4</a:t>
            </a:r>
            <a:r>
              <a:rPr lang="en-US" sz="1800" dirty="0"/>
              <a:t>. </a:t>
            </a:r>
            <a:r>
              <a:rPr lang="en-GB" sz="1800" dirty="0" err="1" smtClean="0"/>
              <a:t>Nmap</a:t>
            </a:r>
            <a:r>
              <a:rPr lang="en-GB" sz="1800" dirty="0"/>
              <a:t>:</a:t>
            </a:r>
            <a:r>
              <a:rPr lang="en-GB" sz="1800" dirty="0" smtClean="0"/>
              <a:t> (Network scanner and port discovering tool), used to scan the target IP address, used to identify vulnerabilities </a:t>
            </a:r>
          </a:p>
          <a:p>
            <a:endParaRPr lang="en-GB" sz="1800" dirty="0" smtClean="0"/>
          </a:p>
          <a:p>
            <a:r>
              <a:rPr lang="en-GB" sz="1800" dirty="0" smtClean="0"/>
              <a:t>5. Wireshark: (Network Protocol Analyser and packet capture tool): live packet capture of eth0, ICMP traffic, verification of network behaviour and demonstration of passive traffic monitoring as a security monitoring technique.</a:t>
            </a:r>
          </a:p>
          <a:p>
            <a:endParaRPr lang="en-GB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28;p5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19;p4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32;p5"/>
          <p:cNvPicPr preferRelativeResize="0"/>
          <p:nvPr/>
        </p:nvPicPr>
        <p:blipFill rotWithShape="1">
          <a:blip r:embed="rId2">
            <a:alphaModFix amt="26000"/>
          </a:blip>
          <a:srcRect/>
          <a:stretch/>
        </p:blipFill>
        <p:spPr>
          <a:xfrm>
            <a:off x="825004" y="1784397"/>
            <a:ext cx="10541991" cy="2964201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sp>
        <p:nvSpPr>
          <p:cNvPr id="9" name="Google Shape;120;p4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</a:t>
            </a:r>
            <a:r>
              <a:rPr lang="en-US" sz="18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techcrush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shouldn’t be shared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51455" y="1275242"/>
            <a:ext cx="87761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 smtClean="0"/>
              <a:t>This </a:t>
            </a:r>
            <a:r>
              <a:rPr lang="en-US" sz="1600" dirty="0"/>
              <a:t>phase involved designing the network architecture using Cisco Packet Tracer. The network layout included devices such as a router, firewall, server, workstation, and </a:t>
            </a:r>
            <a:r>
              <a:rPr lang="en-US" sz="1600" dirty="0" err="1"/>
              <a:t>IoT</a:t>
            </a:r>
            <a:r>
              <a:rPr lang="en-US" sz="1600" dirty="0"/>
              <a:t> device. The planning stage focused on proper device connection, IP addressing, and basic security measures like firewall placement and network segmentation to create a secure and efficient small network.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016" y="2759965"/>
            <a:ext cx="6549784" cy="380568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27654" y="722146"/>
            <a:ext cx="72546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Architectural Design and Planning</a:t>
            </a:r>
          </a:p>
        </p:txBody>
      </p:sp>
    </p:spTree>
    <p:extLst>
      <p:ext uri="{BB962C8B-B14F-4D97-AF65-F5344CB8AC3E}">
        <p14:creationId xmlns:p14="http://schemas.microsoft.com/office/powerpoint/2010/main" val="1972498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367" y="712783"/>
            <a:ext cx="10515600" cy="39245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+mj-lt"/>
              </a:rPr>
              <a:t>Environment Deployment &amp; Baseline Assessment</a:t>
            </a:r>
            <a:endParaRPr lang="en-US" sz="2400" b="1" dirty="0">
              <a:latin typeface="+mj-lt"/>
            </a:endParaRPr>
          </a:p>
        </p:txBody>
      </p:sp>
      <p:sp>
        <p:nvSpPr>
          <p:cNvPr id="4" name="Google Shape;128;p5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19;p4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132;p5"/>
          <p:cNvPicPr preferRelativeResize="0"/>
          <p:nvPr/>
        </p:nvPicPr>
        <p:blipFill rotWithShape="1">
          <a:blip r:embed="rId2">
            <a:alphaModFix amt="26000"/>
          </a:blip>
          <a:srcRect/>
          <a:stretch/>
        </p:blipFill>
        <p:spPr>
          <a:xfrm>
            <a:off x="811809" y="1755780"/>
            <a:ext cx="10541991" cy="2964201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1" name="Google Shape;132;p5"/>
          <p:cNvPicPr preferRelativeResize="0"/>
          <p:nvPr/>
        </p:nvPicPr>
        <p:blipFill rotWithShape="1">
          <a:blip r:embed="rId2">
            <a:alphaModFix amt="26000"/>
          </a:blip>
          <a:srcRect/>
          <a:stretch/>
        </p:blipFill>
        <p:spPr>
          <a:xfrm>
            <a:off x="811809" y="1447322"/>
            <a:ext cx="10541991" cy="2964201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sp>
        <p:nvSpPr>
          <p:cNvPr id="12" name="Rectangle 11"/>
          <p:cNvSpPr/>
          <p:nvPr/>
        </p:nvSpPr>
        <p:spPr>
          <a:xfrm>
            <a:off x="379367" y="1193229"/>
            <a:ext cx="4783176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b="1" dirty="0" smtClean="0"/>
              <a:t>Verification of Host Network Interface Configuration via </a:t>
            </a:r>
            <a:r>
              <a:rPr lang="en-GB" b="1" dirty="0" err="1" smtClean="0"/>
              <a:t>ifconfig</a:t>
            </a:r>
            <a:r>
              <a:rPr lang="en-GB" b="1" dirty="0" smtClean="0"/>
              <a:t>:</a:t>
            </a:r>
          </a:p>
          <a:p>
            <a:pPr algn="just"/>
            <a:endParaRPr lang="en-GB" sz="400" dirty="0" smtClean="0"/>
          </a:p>
          <a:p>
            <a:pPr algn="just"/>
            <a:r>
              <a:rPr lang="en-US" dirty="0"/>
              <a:t>This </a:t>
            </a:r>
            <a:r>
              <a:rPr lang="en-US" dirty="0" smtClean="0"/>
              <a:t>confirms </a:t>
            </a:r>
            <a:r>
              <a:rPr lang="en-US" dirty="0"/>
              <a:t>the baseline network configuration on the Kali Linux </a:t>
            </a:r>
            <a:r>
              <a:rPr lang="en-US" dirty="0" smtClean="0"/>
              <a:t>host </a:t>
            </a:r>
            <a:r>
              <a:rPr lang="en-US" dirty="0"/>
              <a:t>machine. We </a:t>
            </a:r>
            <a:r>
              <a:rPr lang="en-US" dirty="0" smtClean="0"/>
              <a:t>identified </a:t>
            </a:r>
            <a:r>
              <a:rPr lang="en-US" dirty="0"/>
              <a:t>the active network interfaces and IP addresses that will be used during our scanning and optimization </a:t>
            </a:r>
            <a:r>
              <a:rPr lang="en-US" dirty="0" smtClean="0"/>
              <a:t>phases in this project.</a:t>
            </a:r>
          </a:p>
          <a:p>
            <a:pPr algn="just"/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67" y="2681768"/>
            <a:ext cx="4258629" cy="34752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7082" y="2886602"/>
            <a:ext cx="6039160" cy="327041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747082" y="1439451"/>
            <a:ext cx="6096000" cy="11695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An initial baseline </a:t>
            </a:r>
            <a:r>
              <a:rPr lang="en-US" dirty="0" err="1"/>
              <a:t>Nmap</a:t>
            </a:r>
            <a:r>
              <a:rPr lang="en-US" dirty="0"/>
              <a:t> scan </a:t>
            </a:r>
            <a:r>
              <a:rPr lang="en-US" dirty="0" smtClean="0"/>
              <a:t>(</a:t>
            </a:r>
            <a:r>
              <a:rPr lang="en-US" dirty="0" err="1" smtClean="0"/>
              <a:t>nmap</a:t>
            </a:r>
            <a:r>
              <a:rPr lang="en-US" dirty="0" smtClean="0"/>
              <a:t> –</a:t>
            </a:r>
            <a:r>
              <a:rPr lang="en-US" dirty="0" err="1" smtClean="0"/>
              <a:t>sV</a:t>
            </a:r>
            <a:r>
              <a:rPr lang="en-US" dirty="0" smtClean="0"/>
              <a:t>) we conducted the </a:t>
            </a:r>
            <a:r>
              <a:rPr lang="en-US" dirty="0" err="1" smtClean="0"/>
              <a:t>Nmap</a:t>
            </a:r>
            <a:r>
              <a:rPr lang="en-US" dirty="0" smtClean="0"/>
              <a:t> scan against the host IP address 192.168.236.10 to </a:t>
            </a:r>
            <a:r>
              <a:rPr lang="en-US" dirty="0"/>
              <a:t>identify active services and open ports. As </a:t>
            </a:r>
            <a:r>
              <a:rPr lang="en-US" dirty="0" smtClean="0"/>
              <a:t>shown in this screenshot below, </a:t>
            </a:r>
            <a:r>
              <a:rPr lang="en-US" dirty="0"/>
              <a:t>multiple ports are currently open and exposed, presenting a potential attack surface for malicious </a:t>
            </a:r>
            <a:r>
              <a:rPr lang="en-US" dirty="0" smtClean="0"/>
              <a:t>hackers.</a:t>
            </a:r>
            <a:endParaRPr lang="en-GB" dirty="0"/>
          </a:p>
        </p:txBody>
      </p:sp>
      <p:sp>
        <p:nvSpPr>
          <p:cNvPr id="17" name="Rectangle 16"/>
          <p:cNvSpPr/>
          <p:nvPr/>
        </p:nvSpPr>
        <p:spPr>
          <a:xfrm>
            <a:off x="5747082" y="1127738"/>
            <a:ext cx="39228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/>
              <a:t>Initial Baseline </a:t>
            </a:r>
            <a:r>
              <a:rPr lang="fr-FR" b="1" dirty="0" err="1"/>
              <a:t>Nmap</a:t>
            </a:r>
            <a:r>
              <a:rPr lang="fr-FR" b="1" dirty="0"/>
              <a:t> Reconnaissance Scan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642432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931" y="305416"/>
            <a:ext cx="10515600" cy="1325563"/>
          </a:xfrm>
        </p:spPr>
        <p:txBody>
          <a:bodyPr>
            <a:normAutofit/>
          </a:bodyPr>
          <a:lstStyle/>
          <a:p>
            <a:r>
              <a:rPr lang="en-GB" sz="2400" b="1" dirty="0" smtClean="0">
                <a:latin typeface="+mj-lt"/>
              </a:rPr>
              <a:t>Port Hardening</a:t>
            </a:r>
            <a:endParaRPr lang="en-GB" sz="2400" b="1" dirty="0">
              <a:latin typeface="+mj-lt"/>
            </a:endParaRPr>
          </a:p>
        </p:txBody>
      </p:sp>
      <p:sp>
        <p:nvSpPr>
          <p:cNvPr id="4" name="Google Shape;128;p5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19;p4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132;p5"/>
          <p:cNvPicPr preferRelativeResize="0"/>
          <p:nvPr/>
        </p:nvPicPr>
        <p:blipFill rotWithShape="1">
          <a:blip r:embed="rId2">
            <a:alphaModFix amt="26000"/>
          </a:blip>
          <a:srcRect/>
          <a:stretch/>
        </p:blipFill>
        <p:spPr>
          <a:xfrm>
            <a:off x="811809" y="1447322"/>
            <a:ext cx="10541991" cy="2964201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78" y="2672281"/>
            <a:ext cx="3810000" cy="354072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8254" y="1403725"/>
            <a:ext cx="33105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 </a:t>
            </a:r>
            <a:r>
              <a:rPr lang="en-US" b="1" dirty="0"/>
              <a:t>Disabling Unnecessary SSH Service</a:t>
            </a:r>
            <a:endParaRPr lang="en-GB" b="1" dirty="0"/>
          </a:p>
        </p:txBody>
      </p:sp>
      <p:sp>
        <p:nvSpPr>
          <p:cNvPr id="10" name="Rectangle 9"/>
          <p:cNvSpPr/>
          <p:nvPr/>
        </p:nvSpPr>
        <p:spPr>
          <a:xfrm>
            <a:off x="333938" y="1718353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/>
              <a:t>To reduce our attack surface, unnecessary services must be </a:t>
            </a:r>
            <a:endParaRPr lang="en-US" dirty="0" smtClean="0"/>
          </a:p>
          <a:p>
            <a:pPr algn="just"/>
            <a:r>
              <a:rPr lang="en-US" dirty="0" smtClean="0"/>
              <a:t>disabled</a:t>
            </a:r>
            <a:r>
              <a:rPr lang="en-US" dirty="0"/>
              <a:t>. Here, we shut down an unused system service, </a:t>
            </a:r>
            <a:endParaRPr lang="en-US" dirty="0" smtClean="0"/>
          </a:p>
          <a:p>
            <a:pPr algn="just"/>
            <a:r>
              <a:rPr lang="en-US" dirty="0" smtClean="0"/>
              <a:t>directly applying </a:t>
            </a:r>
            <a:r>
              <a:rPr lang="en-US" dirty="0"/>
              <a:t>the security principle of least functionality</a:t>
            </a:r>
            <a:r>
              <a:rPr lang="en-US" dirty="0" smtClean="0"/>
              <a:t>.</a:t>
            </a:r>
            <a:endParaRPr lang="en-GB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6731" y="2672281"/>
            <a:ext cx="6020109" cy="342282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602631" y="1685924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/>
              <a:t>A follow-up verification scan was conducted using </a:t>
            </a:r>
            <a:r>
              <a:rPr lang="en-US" dirty="0" err="1" smtClean="0"/>
              <a:t>Nmap</a:t>
            </a:r>
            <a:r>
              <a:rPr lang="en-US" dirty="0" smtClean="0"/>
              <a:t>. We ran the command </a:t>
            </a:r>
            <a:r>
              <a:rPr lang="en-US" dirty="0" err="1" smtClean="0"/>
              <a:t>nmap</a:t>
            </a:r>
            <a:r>
              <a:rPr lang="en-US" dirty="0" smtClean="0"/>
              <a:t> –</a:t>
            </a:r>
            <a:r>
              <a:rPr lang="en-US" dirty="0" err="1" smtClean="0"/>
              <a:t>sV</a:t>
            </a:r>
            <a:r>
              <a:rPr lang="en-US" dirty="0" smtClean="0"/>
              <a:t> 192.168.236.10. The result showed 1000 filtered </a:t>
            </a:r>
            <a:r>
              <a:rPr lang="en-US" dirty="0" err="1" smtClean="0"/>
              <a:t>tcp</a:t>
            </a:r>
            <a:r>
              <a:rPr lang="en-US" dirty="0" smtClean="0"/>
              <a:t> ports are in ignored state because the system is secure </a:t>
            </a:r>
            <a:r>
              <a:rPr lang="en-US" smtClean="0"/>
              <a:t>by default</a:t>
            </a: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5602631" y="1349021"/>
            <a:ext cx="45897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Hardened </a:t>
            </a:r>
            <a:r>
              <a:rPr lang="en-US" b="1" dirty="0" smtClean="0"/>
              <a:t>Port State </a:t>
            </a:r>
            <a:r>
              <a:rPr lang="en-US" b="1" dirty="0"/>
              <a:t>Post-Incident </a:t>
            </a:r>
            <a:r>
              <a:rPr lang="en-US" b="1" dirty="0" smtClean="0"/>
              <a:t>Verification </a:t>
            </a:r>
            <a:r>
              <a:rPr lang="en-US" b="1" dirty="0"/>
              <a:t>Scan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523684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209" y="325670"/>
            <a:ext cx="11327412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+mj-lt"/>
              </a:rPr>
              <a:t>Security Control </a:t>
            </a:r>
            <a:r>
              <a:rPr lang="en-US" sz="2400" b="1" dirty="0" smtClean="0">
                <a:latin typeface="+mj-lt"/>
              </a:rPr>
              <a:t>Implementation (</a:t>
            </a:r>
            <a:r>
              <a:rPr lang="en-GB" sz="2400" b="1" dirty="0">
                <a:latin typeface="+mj-lt"/>
              </a:rPr>
              <a:t>Native Firewall Implementation)</a:t>
            </a:r>
          </a:p>
        </p:txBody>
      </p:sp>
      <p:sp>
        <p:nvSpPr>
          <p:cNvPr id="4" name="Google Shape;128;p5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19;p4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132;p5"/>
          <p:cNvPicPr preferRelativeResize="0"/>
          <p:nvPr/>
        </p:nvPicPr>
        <p:blipFill rotWithShape="1">
          <a:blip r:embed="rId2">
            <a:alphaModFix amt="26000"/>
          </a:blip>
          <a:srcRect/>
          <a:stretch/>
        </p:blipFill>
        <p:spPr>
          <a:xfrm>
            <a:off x="811809" y="1447322"/>
            <a:ext cx="10541991" cy="2964201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09" y="2656444"/>
            <a:ext cx="5001728" cy="401350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96209" y="1302684"/>
            <a:ext cx="574052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Administrative Baseline Audit of Native Kernel Policy via </a:t>
            </a:r>
            <a:r>
              <a:rPr lang="en-US" b="1" dirty="0" err="1" smtClean="0"/>
              <a:t>iptables</a:t>
            </a:r>
            <a:endParaRPr lang="en-US" b="1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To satisfy the network security controls requirement using our system firewalls, an initial baseline audit was executed via the native kernel filtering command </a:t>
            </a:r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 err="1" smtClean="0"/>
              <a:t>iptables</a:t>
            </a:r>
            <a:r>
              <a:rPr lang="en-US" dirty="0" smtClean="0"/>
              <a:t> –L –v –n. 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404" y="3098400"/>
            <a:ext cx="5259786" cy="395679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72698" y="1229535"/>
            <a:ext cx="46834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final policy audit was performed using the index lookup L –line numbers to ensure implementation compliance. The terminal output confirms that rule index 1 under the input chain is successfully processing and enforcing the targeted drop policy against incoming ICMP traffic. This verifies the host based firewall configuration requirements has been successfully satisfied.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3478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452" y="699072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/>
              <a:t>Threat Simulation &amp; Verification (Testing)</a:t>
            </a:r>
            <a:endParaRPr lang="en-GB" sz="2400" b="1" dirty="0"/>
          </a:p>
        </p:txBody>
      </p:sp>
      <p:sp>
        <p:nvSpPr>
          <p:cNvPr id="4" name="Google Shape;128;p5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19;p4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132;p5"/>
          <p:cNvPicPr preferRelativeResize="0"/>
          <p:nvPr/>
        </p:nvPicPr>
        <p:blipFill rotWithShape="1">
          <a:blip r:embed="rId2">
            <a:alphaModFix amt="26000"/>
          </a:blip>
          <a:srcRect/>
          <a:stretch/>
        </p:blipFill>
        <p:spPr>
          <a:xfrm>
            <a:off x="738045" y="1279398"/>
            <a:ext cx="10541991" cy="2964201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5" t="2626" r="2091" b="1157"/>
          <a:stretch/>
        </p:blipFill>
        <p:spPr>
          <a:xfrm>
            <a:off x="573862" y="2885753"/>
            <a:ext cx="4581120" cy="337971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70452" y="1885346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Wireshark capturing on eth0, live capture in progress, no packets yet (capture just started, status bar shows "eth0: live capture in </a:t>
            </a:r>
            <a:r>
              <a:rPr lang="en-US" dirty="0" smtClean="0"/>
              <a:t>progress</a:t>
            </a:r>
            <a:r>
              <a:rPr lang="en-US" dirty="0"/>
              <a:t>" </a:t>
            </a:r>
            <a:endParaRPr lang="en-US" dirty="0" smtClean="0"/>
          </a:p>
          <a:p>
            <a:r>
              <a:rPr lang="en-US" dirty="0" smtClean="0"/>
              <a:t>and </a:t>
            </a:r>
            <a:r>
              <a:rPr lang="en-US" dirty="0"/>
              <a:t>"No Packets")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452" y="1553847"/>
            <a:ext cx="24641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latin typeface="Arial" panose="020B0604020202020204" pitchFamily="34" charset="0"/>
              </a:rPr>
              <a:t>Wireshark Packet Capture:</a:t>
            </a:r>
            <a:endParaRPr lang="en-GB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/>
          <a:srcRect l="6605" t="7148" r="7364" b="14987"/>
          <a:stretch/>
        </p:blipFill>
        <p:spPr>
          <a:xfrm>
            <a:off x="6355521" y="2859671"/>
            <a:ext cx="4356653" cy="340579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43119" y="1652390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Wireshark capturing on eth0, live capture </a:t>
            </a:r>
            <a:r>
              <a:rPr lang="en-US" dirty="0" smtClean="0"/>
              <a:t>of data </a:t>
            </a:r>
            <a:r>
              <a:rPr lang="en-US" dirty="0"/>
              <a:t>packets </a:t>
            </a:r>
            <a:r>
              <a:rPr lang="en-US" dirty="0" smtClean="0"/>
              <a:t>moving across the local network. 192.168.199.1 is the IP address of the device sending out all the requests. 224.0.0.251 and 239.255.250 are the destination IP addresses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713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8;p5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19;p4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6605" t="7148" r="7364" b="14987"/>
          <a:stretch/>
        </p:blipFill>
        <p:spPr>
          <a:xfrm>
            <a:off x="2800717" y="2472266"/>
            <a:ext cx="4010092" cy="3134873"/>
          </a:xfrm>
          <a:prstGeom prst="rect">
            <a:avLst/>
          </a:prstGeom>
        </p:spPr>
      </p:pic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57022" y="1217038"/>
            <a:ext cx="7442379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A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live packet capture session was initialized on the primary interface</a:t>
            </a:r>
            <a:r>
              <a:rPr kumimoji="0" 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eth0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using the</a:t>
            </a:r>
            <a:r>
              <a:rPr kumimoji="0" 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Wireshark. The application layer panel </a:t>
            </a:r>
            <a:r>
              <a:rPr kumimoji="0" 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verifies that the packet capture engine is successfully intercepting layer-2 </a:t>
            </a:r>
            <a:r>
              <a:rPr kumimoji="0" 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data frames running on the local segment, recording background broadcast </a:t>
            </a:r>
            <a:r>
              <a:rPr kumimoji="0" 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multicast domain name system query streams (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MDNS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and simple service</a:t>
            </a:r>
            <a:r>
              <a:rPr kumimoji="0" 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discovery protocol strings (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SSDP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directly from the link layer traffic 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7264" y="755373"/>
            <a:ext cx="46666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/>
              <a:t> </a:t>
            </a:r>
            <a:r>
              <a:rPr lang="en-US" sz="2400" b="1" dirty="0"/>
              <a:t>Interface Live Packet Capture 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743072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4" y="351421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+mj-lt"/>
              </a:rPr>
              <a:t>Empirical Testing and Performance Validation</a:t>
            </a:r>
            <a:endParaRPr lang="en-GB" sz="2400" b="1" dirty="0"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2221" y="1089025"/>
            <a:ext cx="10515600" cy="435133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400" dirty="0" smtClean="0">
                <a:latin typeface="+mj-lt"/>
              </a:rPr>
              <a:t>A </a:t>
            </a:r>
            <a:r>
              <a:rPr lang="en-US" sz="1400" dirty="0">
                <a:latin typeface="+mj-lt"/>
              </a:rPr>
              <a:t>host validation test was performed via the local command prompt by targeting the system </a:t>
            </a:r>
            <a:r>
              <a:rPr lang="en-US" sz="1400" dirty="0" smtClean="0">
                <a:latin typeface="+mj-lt"/>
              </a:rPr>
              <a:t>interface </a:t>
            </a:r>
            <a:r>
              <a:rPr lang="en-US" sz="1400" dirty="0">
                <a:latin typeface="+mj-lt"/>
              </a:rPr>
              <a:t>with an ICMP </a:t>
            </a:r>
            <a:r>
              <a:rPr lang="en-US" sz="1400" dirty="0" smtClean="0">
                <a:latin typeface="+mj-lt"/>
              </a:rPr>
              <a:t>data </a:t>
            </a:r>
            <a:r>
              <a:rPr lang="en-US" sz="1400" dirty="0">
                <a:latin typeface="+mj-lt"/>
              </a:rPr>
              <a:t>The output documents </a:t>
            </a:r>
            <a:r>
              <a:rPr lang="en-US" sz="1400" dirty="0" smtClean="0">
                <a:latin typeface="+mj-lt"/>
              </a:rPr>
              <a:t>a </a:t>
            </a:r>
            <a:r>
              <a:rPr lang="en-US" sz="1400" dirty="0">
                <a:latin typeface="+mj-lt"/>
              </a:rPr>
              <a:t>metric of 100% packet loss, </a:t>
            </a:r>
            <a:r>
              <a:rPr lang="en-US" sz="1400" dirty="0" smtClean="0">
                <a:latin typeface="+mj-lt"/>
              </a:rPr>
              <a:t>confirming </a:t>
            </a:r>
            <a:r>
              <a:rPr lang="en-US" sz="1400" dirty="0">
                <a:latin typeface="+mj-lt"/>
              </a:rPr>
              <a:t>that the newly deployed firewall rules are active, working, and successfully intercepting target data streams at the packet layer</a:t>
            </a:r>
            <a:endParaRPr lang="en-GB" sz="1400" dirty="0">
              <a:latin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5"/>
          <a:stretch/>
        </p:blipFill>
        <p:spPr>
          <a:xfrm>
            <a:off x="3719810" y="2100091"/>
            <a:ext cx="3560421" cy="3340272"/>
          </a:xfrm>
          <a:prstGeom prst="rect">
            <a:avLst/>
          </a:prstGeom>
        </p:spPr>
      </p:pic>
      <p:sp>
        <p:nvSpPr>
          <p:cNvPr id="6" name="Google Shape;128;p5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19;p4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6843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6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44" name="Google Shape;144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 txBox="1"/>
          <p:nvPr/>
        </p:nvSpPr>
        <p:spPr>
          <a:xfrm>
            <a:off x="109330" y="1232643"/>
            <a:ext cx="11748053" cy="517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400" b="1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Conclusion 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11271" y="1913200"/>
            <a:ext cx="8496796" cy="1677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</a:rPr>
              <a:t>This project successfully achieved its aim of designing, implementing, and evaluating a secure small office network using free, industry-standard tools on Kali Linux. All three required security controls were implemented and evidenced: firewall rules using </a:t>
            </a:r>
            <a:r>
              <a:rPr lang="en-US" dirty="0" err="1" smtClean="0">
                <a:latin typeface="Arial" panose="020B0604020202020204" pitchFamily="34" charset="0"/>
              </a:rPr>
              <a:t>iptables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</a:rPr>
              <a:t>firewall rules,  </a:t>
            </a:r>
            <a:r>
              <a:rPr lang="en-US" dirty="0">
                <a:latin typeface="Arial" panose="020B0604020202020204" pitchFamily="34" charset="0"/>
              </a:rPr>
              <a:t>port scanning and hardening using </a:t>
            </a:r>
            <a:r>
              <a:rPr lang="en-US" dirty="0" err="1">
                <a:latin typeface="Arial" panose="020B0604020202020204" pitchFamily="34" charset="0"/>
              </a:rPr>
              <a:t>Nmap</a:t>
            </a:r>
            <a:r>
              <a:rPr lang="en-US" dirty="0">
                <a:latin typeface="Arial" panose="020B0604020202020204" pitchFamily="34" charset="0"/>
              </a:rPr>
              <a:t>, and packet capture analysis using Wireshark. A port scanning threat scenario was simulated with before-and-after evidence demonstrating the measurable defensive effect of the controls.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GB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7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2026626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55" name="Google Shape;155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 txBox="1"/>
          <p:nvPr/>
        </p:nvSpPr>
        <p:spPr>
          <a:xfrm>
            <a:off x="109330" y="1232643"/>
            <a:ext cx="11748053" cy="517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400" b="1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References 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45879" y="1862789"/>
            <a:ext cx="822076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dirty="0"/>
              <a:t>Lyon, G. (2019). </a:t>
            </a:r>
            <a:r>
              <a:rPr lang="en-GB" i="1" dirty="0" err="1"/>
              <a:t>Nmap</a:t>
            </a:r>
            <a:r>
              <a:rPr lang="en-GB" i="1" dirty="0"/>
              <a:t> network scanning: The official </a:t>
            </a:r>
            <a:r>
              <a:rPr lang="en-GB" i="1" dirty="0" err="1"/>
              <a:t>Nmap</a:t>
            </a:r>
            <a:r>
              <a:rPr lang="en-GB" i="1" dirty="0"/>
              <a:t> project guide to network discovery and vulnerability scanning</a:t>
            </a:r>
            <a:r>
              <a:rPr lang="en-GB" dirty="0"/>
              <a:t>. </a:t>
            </a:r>
            <a:r>
              <a:rPr lang="en-GB" dirty="0" err="1"/>
              <a:t>Insecure.Org</a:t>
            </a:r>
            <a:r>
              <a:rPr lang="en-GB" dirty="0"/>
              <a:t>.</a:t>
            </a:r>
          </a:p>
          <a:p>
            <a:pPr algn="just"/>
            <a:r>
              <a:rPr lang="en-GB" dirty="0"/>
              <a:t>National Institute of Standards and Technology (NIST). (2011). </a:t>
            </a:r>
            <a:r>
              <a:rPr lang="en-GB" i="1" dirty="0"/>
              <a:t>Guide to enterprise telework, remote access, and bring your own device (BYOD) security</a:t>
            </a:r>
            <a:r>
              <a:rPr lang="en-GB" dirty="0"/>
              <a:t> (NIST Special Publication 800-114 Rev. 1). U.S. Department of Commerce. </a:t>
            </a:r>
            <a:r>
              <a:rPr lang="en-GB" dirty="0">
                <a:hlinkClick r:id="rId5"/>
              </a:rPr>
              <a:t>https://csrc.nist.gov/</a:t>
            </a:r>
            <a:endParaRPr lang="en-GB" dirty="0"/>
          </a:p>
          <a:p>
            <a:pPr algn="just"/>
            <a:r>
              <a:rPr lang="en-GB" dirty="0" err="1"/>
              <a:t>Orebaugh</a:t>
            </a:r>
            <a:r>
              <a:rPr lang="en-GB" dirty="0"/>
              <a:t>, A., Ramirez, G., &amp; Beale, J. (2006). </a:t>
            </a:r>
            <a:r>
              <a:rPr lang="en-GB" i="1" dirty="0"/>
              <a:t>Wireshark &amp; Ethereal network packet sniffing</a:t>
            </a:r>
            <a:r>
              <a:rPr lang="en-GB" dirty="0"/>
              <a:t>. </a:t>
            </a:r>
            <a:r>
              <a:rPr lang="en-GB" dirty="0" err="1"/>
              <a:t>Syngress</a:t>
            </a:r>
            <a:r>
              <a:rPr lang="en-GB" dirty="0"/>
              <a:t> Publishing.</a:t>
            </a:r>
          </a:p>
          <a:p>
            <a:pPr algn="just"/>
            <a:r>
              <a:rPr lang="en-GB" dirty="0" err="1"/>
              <a:t>Saltzer</a:t>
            </a:r>
            <a:r>
              <a:rPr lang="en-GB" dirty="0"/>
              <a:t>, J. H., &amp; Schroeder, M. D. (1975). The protection of information in computer systems. </a:t>
            </a:r>
            <a:r>
              <a:rPr lang="en-GB" i="1" dirty="0"/>
              <a:t>Proceedings of the IEEE</a:t>
            </a:r>
            <a:r>
              <a:rPr lang="en-GB" dirty="0"/>
              <a:t>, 63(9), 1278-1308. </a:t>
            </a:r>
            <a:r>
              <a:rPr lang="en-GB" dirty="0">
                <a:hlinkClick r:id="rId6"/>
              </a:rPr>
              <a:t>https://doi.org/10.1109/PROC.1975.9939</a:t>
            </a:r>
            <a:r>
              <a:rPr lang="en-GB" dirty="0"/>
              <a:t> </a:t>
            </a:r>
            <a:r>
              <a:rPr lang="en-GB" i="1" dirty="0"/>
              <a:t>(Note: This is the seminal academic literature paper that established the Principles of Least Privilege and Least Functionality).</a:t>
            </a:r>
            <a:endParaRPr lang="en-GB" dirty="0"/>
          </a:p>
          <a:p>
            <a:pPr algn="just"/>
            <a:r>
              <a:rPr lang="en-GB" dirty="0"/>
              <a:t>The Kali Linux Project. (2026). </a:t>
            </a:r>
            <a:r>
              <a:rPr lang="en-GB" i="1" dirty="0"/>
              <a:t>Kali Linux documentation</a:t>
            </a:r>
            <a:r>
              <a:rPr lang="en-GB" dirty="0"/>
              <a:t>. </a:t>
            </a:r>
            <a:r>
              <a:rPr lang="en-GB" dirty="0" err="1"/>
              <a:t>OffSec</a:t>
            </a:r>
            <a:r>
              <a:rPr lang="en-GB" dirty="0"/>
              <a:t>. </a:t>
            </a:r>
            <a:r>
              <a:rPr lang="en-GB" dirty="0">
                <a:hlinkClick r:id="rId7"/>
              </a:rPr>
              <a:t>https://www.kali.org/docs/</a:t>
            </a:r>
            <a:endParaRPr lang="en-GB" dirty="0"/>
          </a:p>
          <a:p>
            <a:pPr algn="just"/>
            <a:r>
              <a:rPr lang="en-GB" dirty="0"/>
              <a:t>The Ubuntu Documentation Team. (2026). </a:t>
            </a:r>
            <a:r>
              <a:rPr lang="en-GB" i="1" dirty="0"/>
              <a:t>Uncomplicated Firewall (UFW) manual</a:t>
            </a:r>
            <a:r>
              <a:rPr lang="en-GB" dirty="0"/>
              <a:t>. Canonical Ltd. </a:t>
            </a:r>
            <a:r>
              <a:rPr lang="en-GB" dirty="0">
                <a:hlinkClick r:id="rId8"/>
              </a:rPr>
              <a:t>https://help.ubuntu.com/community/UFW</a:t>
            </a:r>
            <a:endParaRPr lang="en-GB" dirty="0"/>
          </a:p>
          <a:p>
            <a:pPr algn="just"/>
            <a:r>
              <a:rPr lang="en-GB" dirty="0"/>
              <a:t>Wireshark Foundation. (2026). </a:t>
            </a:r>
            <a:r>
              <a:rPr lang="en-GB" i="1" dirty="0"/>
              <a:t>Wireshark user’s guide</a:t>
            </a:r>
            <a:r>
              <a:rPr lang="en-GB" dirty="0"/>
              <a:t>. Wireshark Project. </a:t>
            </a:r>
            <a:r>
              <a:rPr lang="en-GB" dirty="0">
                <a:hlinkClick r:id="rId9"/>
              </a:rPr>
              <a:t>https://www.wireshark.org/docs/wsug_html_chunked/</a:t>
            </a:r>
            <a:endParaRPr lang="en-GB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8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66" name="Google Shape;166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 txBox="1"/>
          <p:nvPr/>
        </p:nvSpPr>
        <p:spPr>
          <a:xfrm>
            <a:off x="-1409815" y="2160121"/>
            <a:ext cx="11477177" cy="1695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lang="en-US" sz="9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9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1415</Words>
  <Application>Microsoft Office PowerPoint</Application>
  <PresentationFormat>Widescreen</PresentationFormat>
  <Paragraphs>115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 Unicode MS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Environment Deployment &amp; Baseline Assessment</vt:lpstr>
      <vt:lpstr>Port Hardening</vt:lpstr>
      <vt:lpstr>Security Control Implementation (Native Firewall Implementation)</vt:lpstr>
      <vt:lpstr>Threat Simulation &amp; Verification (Testing)</vt:lpstr>
      <vt:lpstr>PowerPoint Presentation</vt:lpstr>
      <vt:lpstr>Empirical Testing and Performance Validation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Olaniyi Eluwole</dc:creator>
  <cp:lastModifiedBy>USER</cp:lastModifiedBy>
  <cp:revision>52</cp:revision>
  <dcterms:created xsi:type="dcterms:W3CDTF">2024-10-09T19:59:03Z</dcterms:created>
  <dcterms:modified xsi:type="dcterms:W3CDTF">2026-06-18T09:02:18Z</dcterms:modified>
</cp:coreProperties>
</file>